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587fc563-bdc9-66e3-da47-c9ca6c283a34}">
          <p14:sldIdLst>
            <p14:sldId id="256"/>
            <p14:sldId id="257"/>
            <p14:sldId id="258"/>
            <p14:sldId id="259"/>
          </p14:sldIdLst>
        </p14:section>
        <p14:section name="申請する" id="{d19ede8f-6722-3795-6b91-517d1581be84}">
          <p14:sldIdLst>
            <p14:sldId id="260"/>
            <p14:sldId id="261"/>
          </p14:sldIdLst>
        </p14:section>
        <p14:section name="承認する" id="{1f007c3d-b4e5-327c-4195-d8e011339dfa}">
          <p14:sldIdLst>
            <p14:sldId id="262"/>
          </p14:sldIdLst>
        </p14:section>
        <p14:section name="下書き作成と送信" id="{4af5b81a-745a-92be-794a-f2bd234bcd1e}">
          <p14:sldIdLst>
            <p14:sldId id="263"/>
            <p14:sldId id="264"/>
            <p14:sldId id="265"/>
          </p14:sldIdLst>
        </p14:section>
        <p14:section name="困ったとき" id="{ec1fc3d3-325e-68a5-3722-2defb3ab17b7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外部ファイル送付 社員向けマニュアル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外部ファイル送付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社員向けマニュアル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PrimeDrive のパスワード付きリンクで、承認を経て安全に送る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2026年10月版</a:t>
            </a:r>
            <a:endParaRPr lang="en-US" sz="1800" dirty="0"/>
          </a:p>
        </p:txBody>
      </p:sp>
      <p:sp>
        <p:nvSpPr>
          <p:cNvPr id="4" name="cover-circle"/>
          <p:cNvSpPr/>
          <p:nvPr/>
        </p:nvSpPr>
        <p:spPr>
          <a:xfrm>
            <a:off x="8778240" y="2011680"/>
            <a:ext cx="2743200" cy="27432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pic>
        <p:nvPicPr>
          <p:cNvPr id="5" name="cov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添付をやめ、承認済みのリンクで送ります</a:t>
            </a:r>
            <a:endParaRPr lang="en-US" sz="3000" dirty="0"/>
          </a:p>
        </p:txBody>
      </p:sp>
      <p:sp>
        <p:nvSpPr>
          <p:cNvPr id="3" name="pillar-1"/>
          <p:cNvSpPr/>
          <p:nvPr/>
        </p:nvSpPr>
        <p:spPr>
          <a:xfrm>
            <a:off x="548640" y="146304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pillar-1-circle"/>
          <p:cNvSpPr/>
          <p:nvPr/>
        </p:nvSpPr>
        <p:spPr>
          <a:xfrm>
            <a:off x="91440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llar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988820"/>
            <a:ext cx="411480" cy="411480"/>
          </a:xfrm>
          <a:prstGeom prst="rect">
            <a:avLst/>
          </a:prstGeom>
        </p:spPr>
      </p:pic>
      <p:sp>
        <p:nvSpPr>
          <p:cNvPr id="6" name="pillar-1-head"/>
          <p:cNvSpPr txBox="1"/>
          <p:nvPr/>
        </p:nvSpPr>
        <p:spPr>
          <a:xfrm>
            <a:off x="914400" y="27889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メールに添付しない</a:t>
            </a:r>
            <a:endParaRPr lang="en-US" sz="2000" dirty="0"/>
          </a:p>
        </p:txBody>
      </p:sp>
      <p:sp>
        <p:nvSpPr>
          <p:cNvPr id="7" name="pillar-1-desc"/>
          <p:cNvSpPr txBox="1"/>
          <p:nvPr/>
        </p:nvSpPr>
        <p:spPr>
          <a:xfrm>
            <a:off x="914400" y="333756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ファイルは PrimeDrive に置き、パスワード付きのダウンロードリンクを送る</a:t>
            </a:r>
            <a:endParaRPr lang="en-US" sz="1500" dirty="0"/>
          </a:p>
        </p:txBody>
      </p:sp>
      <p:sp>
        <p:nvSpPr>
          <p:cNvPr id="8" name="pillar-2"/>
          <p:cNvSpPr/>
          <p:nvPr/>
        </p:nvSpPr>
        <p:spPr>
          <a:xfrm>
            <a:off x="4368698" y="146304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pillar-2-circle"/>
          <p:cNvSpPr/>
          <p:nvPr/>
        </p:nvSpPr>
        <p:spPr>
          <a:xfrm>
            <a:off x="4734458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illar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198" y="1988820"/>
            <a:ext cx="411480" cy="411480"/>
          </a:xfrm>
          <a:prstGeom prst="rect">
            <a:avLst/>
          </a:prstGeom>
        </p:spPr>
      </p:pic>
      <p:sp>
        <p:nvSpPr>
          <p:cNvPr id="11" name="pillar-2-head"/>
          <p:cNvSpPr txBox="1"/>
          <p:nvPr/>
        </p:nvSpPr>
        <p:spPr>
          <a:xfrm>
            <a:off x="4734458" y="27889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上長の承認が必須</a:t>
            </a:r>
            <a:endParaRPr lang="en-US" sz="2000" dirty="0"/>
          </a:p>
        </p:txBody>
      </p:sp>
      <p:sp>
        <p:nvSpPr>
          <p:cNvPr id="12" name="pillar-2-desc"/>
          <p:cNvSpPr txBox="1"/>
          <p:nvPr/>
        </p:nvSpPr>
        <p:spPr>
          <a:xfrm>
            <a:off x="4734458" y="333756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承認されるまでリンクは発行されない。承認者は実際のファイルを開いて確認する</a:t>
            </a:r>
            <a:endParaRPr lang="en-US" sz="1500" dirty="0"/>
          </a:p>
        </p:txBody>
      </p:sp>
      <p:sp>
        <p:nvSpPr>
          <p:cNvPr id="13" name="pillar-3"/>
          <p:cNvSpPr/>
          <p:nvPr/>
        </p:nvSpPr>
        <p:spPr>
          <a:xfrm>
            <a:off x="8188757" y="146304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pillar-3-circle"/>
          <p:cNvSpPr/>
          <p:nvPr/>
        </p:nvSpPr>
        <p:spPr>
          <a:xfrm>
            <a:off x="8554517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illar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257" y="1988820"/>
            <a:ext cx="411480" cy="411480"/>
          </a:xfrm>
          <a:prstGeom prst="rect">
            <a:avLst/>
          </a:prstGeom>
        </p:spPr>
      </p:pic>
      <p:sp>
        <p:nvSpPr>
          <p:cNvPr id="16" name="pillar-3-head"/>
          <p:cNvSpPr txBox="1"/>
          <p:nvPr/>
        </p:nvSpPr>
        <p:spPr>
          <a:xfrm>
            <a:off x="8554517" y="27889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送信するのは本人</a:t>
            </a:r>
            <a:endParaRPr lang="en-US" sz="2000" dirty="0"/>
          </a:p>
        </p:txBody>
      </p:sp>
      <p:sp>
        <p:nvSpPr>
          <p:cNvPr id="17" name="pillar-3-desc"/>
          <p:cNvSpPr txBox="1"/>
          <p:nvPr/>
        </p:nvSpPr>
        <p:spPr>
          <a:xfrm>
            <a:off x="8554517" y="333756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システムは Gmail の下書きまで作成する。最終確認と送信は申請者が行う</a:t>
            </a:r>
            <a:endParaRPr lang="en-US" sz="1500" dirty="0"/>
          </a:p>
        </p:txBody>
      </p:sp>
      <p:sp>
        <p:nvSpPr>
          <p:cNvPr id="18" name="scope"/>
          <p:cNvSpPr txBox="1"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対象：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社外の取引先へファイルを送るすべての社員と、その承認者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使うもの：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申請 Web アプリ（URL は社内ポータルに記載）と、自分の Gmail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申請から送信までは 5 ステップ</a:t>
            </a:r>
            <a:endParaRPr lang="en-US" sz="3000" dirty="0"/>
          </a:p>
        </p:txBody>
      </p:sp>
      <p:sp>
        <p:nvSpPr>
          <p:cNvPr id="3" name="flow-1"/>
          <p:cNvSpPr/>
          <p:nvPr/>
        </p:nvSpPr>
        <p:spPr>
          <a:xfrm>
            <a:off x="548640" y="18288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" name="flow-1-name"/>
          <p:cNvSpPr txBox="1"/>
          <p:nvPr/>
        </p:nvSpPr>
        <p:spPr>
          <a:xfrm>
            <a:off x="54864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申請</a:t>
            </a:r>
            <a:endParaRPr lang="en-US" sz="1800" dirty="0"/>
          </a:p>
        </p:txBody>
      </p:sp>
      <p:sp>
        <p:nvSpPr>
          <p:cNvPr id="5" name="flow-1-who"/>
          <p:cNvSpPr txBox="1"/>
          <p:nvPr/>
        </p:nvSpPr>
        <p:spPr>
          <a:xfrm>
            <a:off x="54864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申請者</a:t>
            </a:r>
            <a:endParaRPr lang="en-US" sz="1300" dirty="0"/>
          </a:p>
        </p:txBody>
      </p:sp>
      <p:sp>
        <p:nvSpPr>
          <p:cNvPr id="6" name="flow-arrow-1"/>
          <p:cNvSpPr/>
          <p:nvPr/>
        </p:nvSpPr>
        <p:spPr>
          <a:xfrm>
            <a:off x="2450592" y="2354580"/>
            <a:ext cx="3413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flow-2"/>
          <p:cNvSpPr/>
          <p:nvPr/>
        </p:nvSpPr>
        <p:spPr>
          <a:xfrm>
            <a:off x="2865044" y="18288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8" name="flow-2-name"/>
          <p:cNvSpPr txBox="1"/>
          <p:nvPr/>
        </p:nvSpPr>
        <p:spPr>
          <a:xfrm>
            <a:off x="2865044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承認</a:t>
            </a:r>
            <a:endParaRPr lang="en-US" sz="1800" dirty="0"/>
          </a:p>
        </p:txBody>
      </p:sp>
      <p:sp>
        <p:nvSpPr>
          <p:cNvPr id="9" name="flow-2-who"/>
          <p:cNvSpPr txBox="1"/>
          <p:nvPr/>
        </p:nvSpPr>
        <p:spPr>
          <a:xfrm>
            <a:off x="2865044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承認者</a:t>
            </a:r>
            <a:endParaRPr lang="en-US" sz="1300" dirty="0"/>
          </a:p>
        </p:txBody>
      </p:sp>
      <p:sp>
        <p:nvSpPr>
          <p:cNvPr id="10" name="flow-arrow-2"/>
          <p:cNvSpPr/>
          <p:nvPr/>
        </p:nvSpPr>
        <p:spPr>
          <a:xfrm>
            <a:off x="4766996" y="2354580"/>
            <a:ext cx="3413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flow-3"/>
          <p:cNvSpPr/>
          <p:nvPr/>
        </p:nvSpPr>
        <p:spPr>
          <a:xfrm>
            <a:off x="5181448" y="18288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2" name="flow-3-name"/>
          <p:cNvSpPr txBox="1"/>
          <p:nvPr/>
        </p:nvSpPr>
        <p:spPr>
          <a:xfrm>
            <a:off x="5181448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リンク発行</a:t>
            </a:r>
            <a:endParaRPr lang="en-US" sz="1800" dirty="0"/>
          </a:p>
        </p:txBody>
      </p:sp>
      <p:sp>
        <p:nvSpPr>
          <p:cNvPr id="13" name="flow-3-who"/>
          <p:cNvSpPr txBox="1"/>
          <p:nvPr/>
        </p:nvSpPr>
        <p:spPr>
          <a:xfrm>
            <a:off x="5181448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自動・約5分</a:t>
            </a:r>
            <a:endParaRPr lang="en-US" sz="1300" dirty="0"/>
          </a:p>
        </p:txBody>
      </p:sp>
      <p:sp>
        <p:nvSpPr>
          <p:cNvPr id="14" name="flow-arrow-3"/>
          <p:cNvSpPr/>
          <p:nvPr/>
        </p:nvSpPr>
        <p:spPr>
          <a:xfrm>
            <a:off x="7083400" y="2354580"/>
            <a:ext cx="3413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flow-4"/>
          <p:cNvSpPr/>
          <p:nvPr/>
        </p:nvSpPr>
        <p:spPr>
          <a:xfrm>
            <a:off x="7497851" y="18288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flow-4-name"/>
          <p:cNvSpPr txBox="1"/>
          <p:nvPr/>
        </p:nvSpPr>
        <p:spPr>
          <a:xfrm>
            <a:off x="7497851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下書き作成</a:t>
            </a:r>
            <a:endParaRPr lang="en-US" sz="1800" dirty="0"/>
          </a:p>
        </p:txBody>
      </p:sp>
      <p:sp>
        <p:nvSpPr>
          <p:cNvPr id="17" name="flow-4-who"/>
          <p:cNvSpPr txBox="1"/>
          <p:nvPr/>
        </p:nvSpPr>
        <p:spPr>
          <a:xfrm>
            <a:off x="7497851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申請者</a:t>
            </a:r>
            <a:endParaRPr lang="en-US" sz="1300" dirty="0"/>
          </a:p>
        </p:txBody>
      </p:sp>
      <p:sp>
        <p:nvSpPr>
          <p:cNvPr id="18" name="flow-arrow-4"/>
          <p:cNvSpPr/>
          <p:nvPr/>
        </p:nvSpPr>
        <p:spPr>
          <a:xfrm>
            <a:off x="9399803" y="2354580"/>
            <a:ext cx="3413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flow-5"/>
          <p:cNvSpPr/>
          <p:nvPr/>
        </p:nvSpPr>
        <p:spPr>
          <a:xfrm>
            <a:off x="9814255" y="18288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flow-5-name"/>
          <p:cNvSpPr txBox="1"/>
          <p:nvPr/>
        </p:nvSpPr>
        <p:spPr>
          <a:xfrm>
            <a:off x="9814255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確認して送信</a:t>
            </a:r>
            <a:endParaRPr lang="en-US" sz="1800" dirty="0"/>
          </a:p>
        </p:txBody>
      </p:sp>
      <p:sp>
        <p:nvSpPr>
          <p:cNvPr id="21" name="flow-5-who"/>
          <p:cNvSpPr txBox="1"/>
          <p:nvPr/>
        </p:nvSpPr>
        <p:spPr>
          <a:xfrm>
            <a:off x="9814255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申請者本人</a:t>
            </a:r>
            <a:endParaRPr lang="en-US" sz="1300" dirty="0"/>
          </a:p>
        </p:txBody>
      </p:sp>
      <p:sp>
        <p:nvSpPr>
          <p:cNvPr id="22" name="branch-1"/>
          <p:cNvSpPr/>
          <p:nvPr/>
        </p:nvSpPr>
        <p:spPr>
          <a:xfrm>
            <a:off x="2865044" y="397764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branch-1-name"/>
          <p:cNvSpPr txBox="1"/>
          <p:nvPr/>
        </p:nvSpPr>
        <p:spPr>
          <a:xfrm>
            <a:off x="2865044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差戻し</a:t>
            </a:r>
            <a:endParaRPr lang="en-US" sz="1600" dirty="0"/>
          </a:p>
        </p:txBody>
      </p:sp>
      <p:sp>
        <p:nvSpPr>
          <p:cNvPr id="24" name="branch-1-desc"/>
          <p:cNvSpPr txBox="1"/>
          <p:nvPr/>
        </p:nvSpPr>
        <p:spPr>
          <a:xfrm>
            <a:off x="2956484" y="4507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理由を見て申請し直す</a:t>
            </a:r>
            <a:endParaRPr lang="en-US" sz="1200" dirty="0"/>
          </a:p>
        </p:txBody>
      </p:sp>
      <p:sp>
        <p:nvSpPr>
          <p:cNvPr id="25" name="branch-1-down"/>
          <p:cNvSpPr/>
          <p:nvPr/>
        </p:nvSpPr>
        <p:spPr>
          <a:xfrm>
            <a:off x="3779444" y="2926080"/>
            <a:ext cx="0" cy="10058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branch-2"/>
          <p:cNvSpPr/>
          <p:nvPr/>
        </p:nvSpPr>
        <p:spPr>
          <a:xfrm>
            <a:off x="5181448" y="397764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7" name="branch-2-name"/>
          <p:cNvSpPr txBox="1"/>
          <p:nvPr/>
        </p:nvSpPr>
        <p:spPr>
          <a:xfrm>
            <a:off x="5181448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発行エラー</a:t>
            </a:r>
            <a:endParaRPr lang="en-US" sz="1600" dirty="0"/>
          </a:p>
        </p:txBody>
      </p:sp>
      <p:sp>
        <p:nvSpPr>
          <p:cNvPr id="28" name="branch-2-desc"/>
          <p:cNvSpPr txBox="1"/>
          <p:nvPr/>
        </p:nvSpPr>
        <p:spPr>
          <a:xfrm>
            <a:off x="5272888" y="4507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申請者が「再実行」を押す</a:t>
            </a:r>
            <a:endParaRPr lang="en-US" sz="1200" dirty="0"/>
          </a:p>
        </p:txBody>
      </p:sp>
      <p:sp>
        <p:nvSpPr>
          <p:cNvPr id="29" name="branch-2-down"/>
          <p:cNvSpPr/>
          <p:nvPr/>
        </p:nvSpPr>
        <p:spPr>
          <a:xfrm>
            <a:off x="5821528" y="2926080"/>
            <a:ext cx="0" cy="10058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retry-up"/>
          <p:cNvSpPr/>
          <p:nvPr/>
        </p:nvSpPr>
        <p:spPr>
          <a:xfrm>
            <a:off x="6370168" y="2926080"/>
            <a:ext cx="0" cy="10058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31" name="label-fail"/>
          <p:cNvSpPr txBox="1"/>
          <p:nvPr/>
        </p:nvSpPr>
        <p:spPr>
          <a:xfrm>
            <a:off x="4998568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失敗時</a:t>
            </a:r>
            <a:endParaRPr lang="en-US" sz="1200" dirty="0"/>
          </a:p>
        </p:txBody>
      </p:sp>
      <p:sp>
        <p:nvSpPr>
          <p:cNvPr id="32" name="label-retry"/>
          <p:cNvSpPr txBox="1"/>
          <p:nvPr/>
        </p:nvSpPr>
        <p:spPr>
          <a:xfrm>
            <a:off x="6461608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再実行</a:t>
            </a:r>
            <a:endParaRPr lang="en-US" sz="1200" dirty="0"/>
          </a:p>
        </p:txBody>
      </p:sp>
      <p:sp>
        <p:nvSpPr>
          <p:cNvPr id="33" name="back-h"/>
          <p:cNvSpPr/>
          <p:nvPr/>
        </p:nvSpPr>
        <p:spPr>
          <a:xfrm>
            <a:off x="1463040" y="4457700"/>
            <a:ext cx="1402004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34" name="back-v"/>
          <p:cNvSpPr/>
          <p:nvPr/>
        </p:nvSpPr>
        <p:spPr>
          <a:xfrm>
            <a:off x="1463040" y="2926080"/>
            <a:ext cx="0" cy="15316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35" name="label-nosend"/>
          <p:cNvSpPr txBox="1"/>
          <p:nvPr/>
        </p:nvSpPr>
        <p:spPr>
          <a:xfrm>
            <a:off x="7497851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自動送信はしない</a:t>
            </a:r>
            <a:endParaRPr lang="en-US" sz="1200" dirty="0"/>
          </a:p>
        </p:txBody>
      </p:sp>
      <p:sp>
        <p:nvSpPr>
          <p:cNvPr id="36" name="flow-note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人が操作するのは「申請」「承認」「下書き作成」「送信」の 4 つ。リンク発行は承認後に自動で行われます。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画面の「状態」を見れば、次にすることが分かります</a:t>
            </a:r>
            <a:endParaRPr lang="en-US" sz="3000" dirty="0"/>
          </a:p>
        </p:txBody>
      </p:sp>
      <p:graphicFrame>
        <p:nvGraphicFramePr>
          <p:cNvPr id="5" name="statu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943600"/>
                <a:gridCol w="13075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状態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次にすること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承認待ち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承認者が承認または差戻す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承認者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承認済み(発行待ち) / 送付キー発行中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待つ（通常 5〜6 分）。画面は自動で更新される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送付キー発行済み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「下書きを作成」から下書きを作る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申請者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下書き作成済み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Gmail で内容を確認して送信する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申請者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差戻し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理由を確認し、内容を直して申請し直す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申請者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発行エラー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「送付キーの発行を再実行」を押す（承認のやり直しは不要）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申請者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取下げ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なし（申請者が取り下げた）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申請画面では 9 項目を入力します</a:t>
            </a:r>
            <a:endParaRPr lang="en-US" sz="3000" dirty="0"/>
          </a:p>
        </p:txBody>
      </p:sp>
      <p:graphicFrame>
        <p:nvGraphicFramePr>
          <p:cNvPr id="6" name="field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入力のポイント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取引先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一覧から選ぶ。選ぶと送信できるドメインが表示される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宛先(To)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複数はカンマ区切り。取引先の登録ドメイン以外は申請できない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宛先(To) 再入力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貼り付け不可。手で入力して一致を確認する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宛先(Cc)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任意。社内の人も入れられる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件名・本文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本文の {{URL}} と {{有効期限}} にリンク情報が入る。パスワードは書かない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送付ファイル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 30MB・10 個まで。同じ名前のファイルや .exe などは不可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送付目的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承認者が判断できるよう具体的に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有効期限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1〜14 日。過ぎるとリンクは使えなくなる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承認者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上長など。自分は選べない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誤送信はシステムが申請時にチェックします</a:t>
            </a:r>
            <a:endParaRPr lang="en-US" sz="3000" dirty="0"/>
          </a:p>
        </p:txBody>
      </p:sp>
      <p:sp>
        <p:nvSpPr>
          <p:cNvPr id="3" name="body-sample-card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body-sample-head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本文の書き方の例</a:t>
            </a:r>
            <a:endParaRPr lang="en-US" sz="1600" dirty="0"/>
          </a:p>
        </p:txBody>
      </p:sp>
      <p:sp>
        <p:nvSpPr>
          <p:cNvPr id="5" name="body-sample"/>
          <p:cNvSpPr txBox="1"/>
          <p:nvPr/>
        </p:nvSpPr>
        <p:spPr>
          <a:xfrm>
            <a:off x="822960" y="210312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ご担当者様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お世話になっております。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見積書をお送りいたします。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以下の URL からダウンロードしてください。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■ダウンロードURL：{{URL}}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■有効期限：{{有効期限}}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※パスワードは別メールにてお送りします。</a:t>
            </a:r>
            <a:endParaRPr lang="en-US" sz="1400" dirty="0"/>
          </a:p>
        </p:txBody>
      </p:sp>
      <p:sp>
        <p:nvSpPr>
          <p:cNvPr id="6" name="body-sample-note"/>
          <p:cNvSpPr txBox="1"/>
          <p:nvPr/>
        </p:nvSpPr>
        <p:spPr>
          <a:xfrm>
            <a:off x="82296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{{URL}} を書かなければ、末尾に自動で追記されます。</a:t>
            </a:r>
            <a:endParaRPr lang="en-US" sz="1200" dirty="0"/>
          </a:p>
        </p:txBody>
      </p:sp>
      <p:sp>
        <p:nvSpPr>
          <p:cNvPr id="7" name="error-card"/>
          <p:cNvSpPr/>
          <p:nvPr/>
        </p:nvSpPr>
        <p:spPr>
          <a:xfrm>
            <a:off x="6035040" y="1417320"/>
            <a:ext cx="5608015" cy="2148840"/>
          </a:xfrm>
          <a:prstGeom prst="roundRect">
            <a:avLst>
              <a:gd name="adj" fmla="val 5106"/>
            </a:avLst>
          </a:prstGeom>
          <a:solidFill>
            <a:srgbClr val="FBECEB"/>
          </a:solidFill>
          <a:ln/>
        </p:spPr>
      </p:sp>
      <p:pic>
        <p:nvPicPr>
          <p:cNvPr id="8" name="err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45920"/>
            <a:ext cx="411480" cy="411480"/>
          </a:xfrm>
          <a:prstGeom prst="rect">
            <a:avLst/>
          </a:prstGeom>
        </p:spPr>
      </p:pic>
      <p:sp>
        <p:nvSpPr>
          <p:cNvPr id="9" name="error-head"/>
          <p:cNvSpPr txBox="1"/>
          <p:nvPr/>
        </p:nvSpPr>
        <p:spPr>
          <a:xfrm>
            <a:off x="6858000" y="164592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エラー：申請できない</a:t>
            </a:r>
            <a:endParaRPr lang="en-US" sz="1700" dirty="0"/>
          </a:p>
        </p:txBody>
      </p:sp>
      <p:sp>
        <p:nvSpPr>
          <p:cNvPr id="10" name="error-list"/>
          <p:cNvSpPr txBox="1"/>
          <p:nvPr/>
        </p:nvSpPr>
        <p:spPr>
          <a:xfrm>
            <a:off x="6309360" y="2194560"/>
            <a:ext cx="5059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取引先に登録のないドメイン・別の取引先のドメイン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入力ミスらしいドメイン（正しい候補を表示）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自分を承認者にする・本文にパスワードを書く</a:t>
            </a:r>
            <a:endParaRPr lang="en-US" sz="1400" dirty="0"/>
          </a:p>
        </p:txBody>
      </p:sp>
      <p:sp>
        <p:nvSpPr>
          <p:cNvPr id="11" name="warn-card"/>
          <p:cNvSpPr/>
          <p:nvPr/>
        </p:nvSpPr>
        <p:spPr>
          <a:xfrm>
            <a:off x="6035040" y="3749040"/>
            <a:ext cx="5608015" cy="2148840"/>
          </a:xfrm>
          <a:prstGeom prst="roundRect">
            <a:avLst>
              <a:gd name="adj" fmla="val 5106"/>
            </a:avLst>
          </a:prstGeom>
          <a:solidFill>
            <a:srgbClr val="FCF3E3"/>
          </a:solidFill>
          <a:ln/>
        </p:spPr>
      </p:sp>
      <p:pic>
        <p:nvPicPr>
          <p:cNvPr id="12" name="warn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977640"/>
            <a:ext cx="411480" cy="411480"/>
          </a:xfrm>
          <a:prstGeom prst="rect">
            <a:avLst/>
          </a:prstGeom>
        </p:spPr>
      </p:pic>
      <p:sp>
        <p:nvSpPr>
          <p:cNvPr id="13" name="warn-head"/>
          <p:cNvSpPr txBox="1"/>
          <p:nvPr/>
        </p:nvSpPr>
        <p:spPr>
          <a:xfrm>
            <a:off x="6858000" y="397764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警告：確認すれば申請できる</a:t>
            </a:r>
            <a:endParaRPr lang="en-US" sz="1700" dirty="0"/>
          </a:p>
        </p:txBody>
      </p:sp>
      <p:sp>
        <p:nvSpPr>
          <p:cNvPr id="14" name="warn-list"/>
          <p:cNvSpPr txBox="1"/>
          <p:nvPr/>
        </p:nvSpPr>
        <p:spPr>
          <a:xfrm>
            <a:off x="6309360" y="4526280"/>
            <a:ext cx="5059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フリーメール、To に社内アドレス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ファイル名・件名・本文に別の取引先名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警告は承認者の画面にも表示される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承認者はファイルを開いて確かめてから承認します</a:t>
            </a:r>
            <a:endParaRPr lang="en-US" sz="3000" dirty="0"/>
          </a:p>
        </p:txBody>
      </p:sp>
      <p:sp>
        <p:nvSpPr>
          <p:cNvPr id="3" name="approve-step-1-badge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approve-step-1-num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approve-step-1-text"/>
          <p:cNvSpPr txBox="1"/>
          <p:nvPr/>
        </p:nvSpPr>
        <p:spPr>
          <a:xfrm>
            <a:off x="1097280" y="15270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「【承認依頼】外部ファイル送付」メールのリンク、または「承認」タブから申請を開く</a:t>
            </a:r>
            <a:endParaRPr lang="en-US" sz="1500" dirty="0"/>
          </a:p>
        </p:txBody>
      </p:sp>
      <p:sp>
        <p:nvSpPr>
          <p:cNvPr id="6" name="approve-step-2-badge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approve-step-2-num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approve-step-2-text"/>
          <p:cNvSpPr txBox="1"/>
          <p:nvPr/>
        </p:nvSpPr>
        <p:spPr>
          <a:xfrm>
            <a:off x="1097280" y="23957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黄色の「申請時の注意事項」があれば、特に注意して読む</a:t>
            </a:r>
            <a:endParaRPr lang="en-US" sz="1500" dirty="0"/>
          </a:p>
        </p:txBody>
      </p:sp>
      <p:sp>
        <p:nvSpPr>
          <p:cNvPr id="9" name="approve-step-3-badge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approve-step-3-num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approve-step-3-text"/>
          <p:cNvSpPr txBox="1"/>
          <p:nvPr/>
        </p:nvSpPr>
        <p:spPr>
          <a:xfrm>
            <a:off x="1097280" y="32644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ファイル名のリンクからファイルを開き、中身を確認する</a:t>
            </a:r>
            <a:endParaRPr lang="en-US" sz="1500" dirty="0"/>
          </a:p>
        </p:txBody>
      </p:sp>
      <p:sp>
        <p:nvSpPr>
          <p:cNvPr id="12" name="approve-step-4-badge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approve-step-4-num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approve-step-4-text"/>
          <p:cNvSpPr txBox="1"/>
          <p:nvPr/>
        </p:nvSpPr>
        <p:spPr>
          <a:xfrm>
            <a:off x="1097280" y="413308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右の 3 つの確認項目にチェックを入れる</a:t>
            </a:r>
            <a:endParaRPr lang="en-US" sz="1500" dirty="0"/>
          </a:p>
        </p:txBody>
      </p:sp>
      <p:sp>
        <p:nvSpPr>
          <p:cNvPr id="15" name="approve-step-5-badge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approve-step-5-num"/>
          <p:cNvSpPr txBox="1"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approve-step-5-text"/>
          <p:cNvSpPr txBox="1"/>
          <p:nvPr/>
        </p:nvSpPr>
        <p:spPr>
          <a:xfrm>
            <a:off x="1097280" y="50017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「承認する」か「差戻す」を押す（差戻しは理由が必須）</a:t>
            </a:r>
            <a:endParaRPr lang="en-US" sz="1500" dirty="0"/>
          </a:p>
        </p:txBody>
      </p:sp>
      <p:sp>
        <p:nvSpPr>
          <p:cNvPr id="18" name="checks-card"/>
          <p:cNvSpPr/>
          <p:nvPr/>
        </p:nvSpPr>
        <p:spPr>
          <a:xfrm>
            <a:off x="6949440" y="1417320"/>
            <a:ext cx="4693615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9" name="checks-head"/>
          <p:cNvSpPr txBox="1"/>
          <p:nvPr/>
        </p:nvSpPr>
        <p:spPr>
          <a:xfrm>
            <a:off x="7269480" y="1645920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承認前の 3 つの確認</a:t>
            </a:r>
            <a:endParaRPr lang="en-US" sz="1800" dirty="0"/>
          </a:p>
        </p:txBody>
      </p:sp>
      <p:pic>
        <p:nvPicPr>
          <p:cNvPr id="20" name="check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2286000"/>
            <a:ext cx="365760" cy="365760"/>
          </a:xfrm>
          <a:prstGeom prst="rect">
            <a:avLst/>
          </a:prstGeom>
        </p:spPr>
      </p:pic>
      <p:sp>
        <p:nvSpPr>
          <p:cNvPr id="21" name="check-1-text"/>
          <p:cNvSpPr txBox="1"/>
          <p:nvPr/>
        </p:nvSpPr>
        <p:spPr>
          <a:xfrm>
            <a:off x="7818120" y="2286000"/>
            <a:ext cx="3504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宛先（To/Cc）がすべて正しい取引先担当者</a:t>
            </a:r>
            <a:endParaRPr lang="en-US" sz="1500" dirty="0"/>
          </a:p>
        </p:txBody>
      </p:sp>
      <p:pic>
        <p:nvPicPr>
          <p:cNvPr id="22" name="check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108960"/>
            <a:ext cx="365760" cy="365760"/>
          </a:xfrm>
          <a:prstGeom prst="rect">
            <a:avLst/>
          </a:prstGeom>
        </p:spPr>
      </p:pic>
      <p:sp>
        <p:nvSpPr>
          <p:cNvPr id="23" name="check-2-text"/>
          <p:cNvSpPr txBox="1"/>
          <p:nvPr/>
        </p:nvSpPr>
        <p:spPr>
          <a:xfrm>
            <a:off x="7818120" y="3108960"/>
            <a:ext cx="3504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中身を確認し、送って問題ない</a:t>
            </a:r>
            <a:endParaRPr lang="en-US" sz="1500" dirty="0"/>
          </a:p>
        </p:txBody>
      </p:sp>
      <p:pic>
        <p:nvPicPr>
          <p:cNvPr id="24" name="check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931920"/>
            <a:ext cx="365760" cy="365760"/>
          </a:xfrm>
          <a:prstGeom prst="rect">
            <a:avLst/>
          </a:prstGeom>
        </p:spPr>
      </p:pic>
      <p:sp>
        <p:nvSpPr>
          <p:cNvPr id="25" name="check-3-text"/>
          <p:cNvSpPr txBox="1"/>
          <p:nvPr/>
        </p:nvSpPr>
        <p:spPr>
          <a:xfrm>
            <a:off x="7818120" y="3931920"/>
            <a:ext cx="3504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送付目的が妥当である</a:t>
            </a:r>
            <a:endParaRPr lang="en-US" sz="1500" dirty="0"/>
          </a:p>
        </p:txBody>
      </p:sp>
      <p:sp>
        <p:nvSpPr>
          <p:cNvPr id="26" name="approve-note"/>
          <p:cNvSpPr txBox="1"/>
          <p:nvPr/>
        </p:nvSpPr>
        <p:spPr>
          <a:xfrm>
            <a:off x="6949440" y="5212080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迷ったら承認せず、申請者に確認してください。差戻した申請はファイルごと削除されます。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下書きは「下書きを作成」から自分で作ります</a:t>
            </a:r>
            <a:endParaRPr lang="en-US" sz="3000" dirty="0"/>
          </a:p>
        </p:txBody>
      </p:sp>
      <p:sp>
        <p:nvSpPr>
          <p:cNvPr id="3" name="draft-step-1-badge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draft-step-1-num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draft-step-1-text"/>
          <p:cNvSpPr txBox="1"/>
          <p:nvPr/>
        </p:nvSpPr>
        <p:spPr>
          <a:xfrm>
            <a:off x="1097280" y="15270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「送付キーが発行されました」メールのリンクから申請を開く</a:t>
            </a:r>
            <a:endParaRPr lang="en-US" sz="1500" dirty="0"/>
          </a:p>
        </p:txBody>
      </p:sp>
      <p:sp>
        <p:nvSpPr>
          <p:cNvPr id="6" name="draft-step-2-badge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draft-step-2-num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draft-step-2-text"/>
          <p:cNvSpPr txBox="1"/>
          <p:nvPr/>
        </p:nvSpPr>
        <p:spPr>
          <a:xfrm>
            <a:off x="1097280" y="23957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「下書きを作成」→「下書き作成画面を開く」（15 分以内）</a:t>
            </a:r>
            <a:endParaRPr lang="en-US" sz="1500" dirty="0"/>
          </a:p>
        </p:txBody>
      </p:sp>
      <p:sp>
        <p:nvSpPr>
          <p:cNvPr id="9" name="draft-step-3-badge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draft-step-3-num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draft-step-3-text"/>
          <p:cNvSpPr txBox="1"/>
          <p:nvPr/>
        </p:nvSpPr>
        <p:spPr>
          <a:xfrm>
            <a:off x="1097280" y="32644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初回だけ Gmail へのアクセスを「許可」する</a:t>
            </a:r>
            <a:endParaRPr lang="en-US" sz="1500" dirty="0"/>
          </a:p>
        </p:txBody>
      </p:sp>
      <p:sp>
        <p:nvSpPr>
          <p:cNvPr id="12" name="draft-step-4-badge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draft-step-4-num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draft-step-4-text"/>
          <p:cNvSpPr txBox="1"/>
          <p:nvPr/>
        </p:nvSpPr>
        <p:spPr>
          <a:xfrm>
            <a:off x="1097280" y="413308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表示された宛先をすべて確認してチェックを入れる</a:t>
            </a:r>
            <a:endParaRPr lang="en-US" sz="1500" dirty="0"/>
          </a:p>
        </p:txBody>
      </p:sp>
      <p:sp>
        <p:nvSpPr>
          <p:cNvPr id="15" name="draft-step-5-badge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draft-step-5-num"/>
          <p:cNvSpPr txBox="1"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draft-step-5-text"/>
          <p:cNvSpPr txBox="1"/>
          <p:nvPr/>
        </p:nvSpPr>
        <p:spPr>
          <a:xfrm>
            <a:off x="1097280" y="50017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「下書きを 2 通作成する」を押す</a:t>
            </a:r>
            <a:endParaRPr lang="en-US" sz="1500" dirty="0"/>
          </a:p>
        </p:txBody>
      </p:sp>
      <p:sp>
        <p:nvSpPr>
          <p:cNvPr id="18" name="draft-card-1"/>
          <p:cNvSpPr/>
          <p:nvPr/>
        </p:nvSpPr>
        <p:spPr>
          <a:xfrm>
            <a:off x="6949440" y="1417320"/>
            <a:ext cx="4693615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9" name="draft-card-1-circle"/>
          <p:cNvSpPr/>
          <p:nvPr/>
        </p:nvSpPr>
        <p:spPr>
          <a:xfrm>
            <a:off x="722376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draft-card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874520"/>
            <a:ext cx="365760" cy="365760"/>
          </a:xfrm>
          <a:prstGeom prst="rect">
            <a:avLst/>
          </a:prstGeom>
        </p:spPr>
      </p:pic>
      <p:sp>
        <p:nvSpPr>
          <p:cNvPr id="21" name="draft-card-1-head"/>
          <p:cNvSpPr txBox="1"/>
          <p:nvPr/>
        </p:nvSpPr>
        <p:spPr>
          <a:xfrm>
            <a:off x="8138160" y="169164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① 本文メール</a:t>
            </a:r>
            <a:endParaRPr lang="en-US" sz="1800" dirty="0"/>
          </a:p>
        </p:txBody>
      </p:sp>
      <p:sp>
        <p:nvSpPr>
          <p:cNvPr id="22" name="draft-card-1-desc"/>
          <p:cNvSpPr txBox="1"/>
          <p:nvPr/>
        </p:nvSpPr>
        <p:spPr>
          <a:xfrm>
            <a:off x="8138160" y="2194560"/>
            <a:ext cx="3322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件名：申請した件名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本文：ダウンロード URL と有効期限入り</a:t>
            </a:r>
            <a:endParaRPr lang="en-US" sz="1300" dirty="0"/>
          </a:p>
        </p:txBody>
      </p:sp>
      <p:sp>
        <p:nvSpPr>
          <p:cNvPr id="23" name="draft-card-2"/>
          <p:cNvSpPr/>
          <p:nvPr/>
        </p:nvSpPr>
        <p:spPr>
          <a:xfrm>
            <a:off x="6949440" y="3291840"/>
            <a:ext cx="4693615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4" name="draft-card-2-circle"/>
          <p:cNvSpPr/>
          <p:nvPr/>
        </p:nvSpPr>
        <p:spPr>
          <a:xfrm>
            <a:off x="7223760" y="35661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draft-card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749040"/>
            <a:ext cx="365760" cy="365760"/>
          </a:xfrm>
          <a:prstGeom prst="rect">
            <a:avLst/>
          </a:prstGeom>
        </p:spPr>
      </p:pic>
      <p:sp>
        <p:nvSpPr>
          <p:cNvPr id="26" name="draft-card-2-head"/>
          <p:cNvSpPr txBox="1"/>
          <p:nvPr/>
        </p:nvSpPr>
        <p:spPr>
          <a:xfrm>
            <a:off x="8138160" y="356616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② パスワードメール</a:t>
            </a:r>
            <a:endParaRPr lang="en-US" sz="1800" dirty="0"/>
          </a:p>
        </p:txBody>
      </p:sp>
      <p:sp>
        <p:nvSpPr>
          <p:cNvPr id="27" name="draft-card-2-desc"/>
          <p:cNvSpPr txBox="1"/>
          <p:nvPr/>
        </p:nvSpPr>
        <p:spPr>
          <a:xfrm>
            <a:off x="8138160" y="4069080"/>
            <a:ext cx="3322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件名：【パスワードのお知らせ】＋件名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本文：ダウンロード用パスワード</a:t>
            </a:r>
            <a:endParaRPr lang="en-US" sz="1300" dirty="0"/>
          </a:p>
        </p:txBody>
      </p:sp>
      <p:sp>
        <p:nvSpPr>
          <p:cNvPr id="28" name="draft-note"/>
          <p:cNvSpPr txBox="1"/>
          <p:nvPr/>
        </p:nvSpPr>
        <p:spPr>
          <a:xfrm>
            <a:off x="6949440" y="5212080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宛先は承認されたものが自動で入ります。下書きを作るとパスワードはシステムから消去されます。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送信は「本文 → 受信確認 → パスワード」の順に</a:t>
            </a:r>
            <a:endParaRPr lang="en-US" sz="3000" dirty="0"/>
          </a:p>
        </p:txBody>
      </p:sp>
      <p:sp>
        <p:nvSpPr>
          <p:cNvPr id="3" name="send-1"/>
          <p:cNvSpPr/>
          <p:nvPr/>
        </p:nvSpPr>
        <p:spPr>
          <a:xfrm>
            <a:off x="548640" y="1645920"/>
            <a:ext cx="3393338" cy="219456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4" name="send-1-head"/>
          <p:cNvSpPr txBox="1"/>
          <p:nvPr/>
        </p:nvSpPr>
        <p:spPr>
          <a:xfrm>
            <a:off x="822960" y="19202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① 本文メールを送信</a:t>
            </a:r>
            <a:endParaRPr lang="en-US" sz="2000" dirty="0"/>
          </a:p>
        </p:txBody>
      </p:sp>
      <p:sp>
        <p:nvSpPr>
          <p:cNvPr id="5" name="send-1-desc"/>
          <p:cNvSpPr txBox="1"/>
          <p:nvPr/>
        </p:nvSpPr>
        <p:spPr>
          <a:xfrm>
            <a:off x="822960" y="260604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宛先・件名・本文をもう一度確かめる。宛先は変更しない</a:t>
            </a:r>
            <a:endParaRPr lang="en-US" sz="1500" dirty="0"/>
          </a:p>
        </p:txBody>
      </p:sp>
      <p:sp>
        <p:nvSpPr>
          <p:cNvPr id="6" name="send-arrow-1"/>
          <p:cNvSpPr/>
          <p:nvPr/>
        </p:nvSpPr>
        <p:spPr>
          <a:xfrm>
            <a:off x="4005986" y="2743200"/>
            <a:ext cx="32918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send-2"/>
          <p:cNvSpPr/>
          <p:nvPr/>
        </p:nvSpPr>
        <p:spPr>
          <a:xfrm>
            <a:off x="4399178" y="1645920"/>
            <a:ext cx="339333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send-2-head"/>
          <p:cNvSpPr txBox="1"/>
          <p:nvPr/>
        </p:nvSpPr>
        <p:spPr>
          <a:xfrm>
            <a:off x="4673498" y="19202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先方の受信を確認</a:t>
            </a:r>
            <a:endParaRPr lang="en-US" sz="2000" dirty="0"/>
          </a:p>
        </p:txBody>
      </p:sp>
      <p:sp>
        <p:nvSpPr>
          <p:cNvPr id="9" name="send-2-desc"/>
          <p:cNvSpPr txBox="1"/>
          <p:nvPr/>
        </p:nvSpPr>
        <p:spPr>
          <a:xfrm>
            <a:off x="4673498" y="260604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届いたことを確かめてから次へ</a:t>
            </a:r>
            <a:endParaRPr lang="en-US" sz="1500" dirty="0"/>
          </a:p>
        </p:txBody>
      </p:sp>
      <p:sp>
        <p:nvSpPr>
          <p:cNvPr id="10" name="send-arrow-2"/>
          <p:cNvSpPr/>
          <p:nvPr/>
        </p:nvSpPr>
        <p:spPr>
          <a:xfrm>
            <a:off x="7856525" y="2743200"/>
            <a:ext cx="32918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send-3"/>
          <p:cNvSpPr/>
          <p:nvPr/>
        </p:nvSpPr>
        <p:spPr>
          <a:xfrm>
            <a:off x="8249717" y="1645920"/>
            <a:ext cx="3393338" cy="219456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12" name="send-3-head"/>
          <p:cNvSpPr txBox="1"/>
          <p:nvPr/>
        </p:nvSpPr>
        <p:spPr>
          <a:xfrm>
            <a:off x="8524037" y="19202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② パスワードを送信</a:t>
            </a:r>
            <a:endParaRPr lang="en-US" sz="2000" dirty="0"/>
          </a:p>
        </p:txBody>
      </p:sp>
      <p:sp>
        <p:nvSpPr>
          <p:cNvPr id="13" name="send-3-desc"/>
          <p:cNvSpPr txBox="1"/>
          <p:nvPr/>
        </p:nvSpPr>
        <p:spPr>
          <a:xfrm>
            <a:off x="8524037" y="260604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本文とは別のメールで送る</a:t>
            </a:r>
            <a:endParaRPr lang="en-US" sz="1500" dirty="0"/>
          </a:p>
        </p:txBody>
      </p:sp>
      <p:sp>
        <p:nvSpPr>
          <p:cNvPr id="14" name="phone-card"/>
          <p:cNvSpPr/>
          <p:nvPr/>
        </p:nvSpPr>
        <p:spPr>
          <a:xfrm>
            <a:off x="548640" y="434340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15" name="phon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09160"/>
            <a:ext cx="457200" cy="457200"/>
          </a:xfrm>
          <a:prstGeom prst="rect">
            <a:avLst/>
          </a:prstGeom>
        </p:spPr>
      </p:pic>
      <p:sp>
        <p:nvSpPr>
          <p:cNvPr id="16" name="phone-text"/>
          <p:cNvSpPr txBox="1"/>
          <p:nvPr/>
        </p:nvSpPr>
        <p:spPr>
          <a:xfrm>
            <a:off x="1554480" y="45262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取引先と「パスワードは電話で伝える」などの取り決めがある場合は、② は送らずに削除し、取り決めた方法で伝えてください。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受取人は URL とパスワードだけで受け取れます</a:t>
            </a:r>
            <a:endParaRPr lang="en-US" sz="3000" dirty="0"/>
          </a:p>
        </p:txBody>
      </p:sp>
      <p:sp>
        <p:nvSpPr>
          <p:cNvPr id="3" name="recv-1"/>
          <p:cNvSpPr/>
          <p:nvPr/>
        </p:nvSpPr>
        <p:spPr>
          <a:xfrm>
            <a:off x="548640" y="1554480"/>
            <a:ext cx="339333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recv-1-badge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ecv-1-num"/>
          <p:cNvSpPr txBox="1"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ecv-1-head"/>
          <p:cNvSpPr txBox="1"/>
          <p:nvPr/>
        </p:nvSpPr>
        <p:spPr>
          <a:xfrm>
            <a:off x="822960" y="237744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URL を開く</a:t>
            </a:r>
            <a:endParaRPr lang="en-US" sz="1900" dirty="0"/>
          </a:p>
        </p:txBody>
      </p:sp>
      <p:sp>
        <p:nvSpPr>
          <p:cNvPr id="7" name="recv-1-desc"/>
          <p:cNvSpPr txBox="1"/>
          <p:nvPr/>
        </p:nvSpPr>
        <p:spPr>
          <a:xfrm>
            <a:off x="822960" y="292608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① のメールの https://primedrive.jp/v2/access?key=… を開く</a:t>
            </a:r>
            <a:endParaRPr lang="en-US" sz="1400" dirty="0"/>
          </a:p>
        </p:txBody>
      </p:sp>
      <p:sp>
        <p:nvSpPr>
          <p:cNvPr id="8" name="recv-2"/>
          <p:cNvSpPr/>
          <p:nvPr/>
        </p:nvSpPr>
        <p:spPr>
          <a:xfrm>
            <a:off x="4399178" y="1554480"/>
            <a:ext cx="339333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9" name="recv-2-badge"/>
          <p:cNvSpPr/>
          <p:nvPr/>
        </p:nvSpPr>
        <p:spPr>
          <a:xfrm>
            <a:off x="4673498" y="1828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ecv-2-num"/>
          <p:cNvSpPr txBox="1"/>
          <p:nvPr/>
        </p:nvSpPr>
        <p:spPr>
          <a:xfrm>
            <a:off x="467349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recv-2-head"/>
          <p:cNvSpPr txBox="1"/>
          <p:nvPr/>
        </p:nvSpPr>
        <p:spPr>
          <a:xfrm>
            <a:off x="4673498" y="237744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パスワードを入力</a:t>
            </a:r>
            <a:endParaRPr lang="en-US" sz="1900" dirty="0"/>
          </a:p>
        </p:txBody>
      </p:sp>
      <p:sp>
        <p:nvSpPr>
          <p:cNvPr id="12" name="recv-2-desc"/>
          <p:cNvSpPr txBox="1"/>
          <p:nvPr/>
        </p:nvSpPr>
        <p:spPr>
          <a:xfrm>
            <a:off x="4673498" y="292608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「ダウンロードリンクパスワードの入力」に ② のパスワードを入れて OK</a:t>
            </a:r>
            <a:endParaRPr lang="en-US" sz="1400" dirty="0"/>
          </a:p>
        </p:txBody>
      </p:sp>
      <p:sp>
        <p:nvSpPr>
          <p:cNvPr id="13" name="recv-3"/>
          <p:cNvSpPr/>
          <p:nvPr/>
        </p:nvSpPr>
        <p:spPr>
          <a:xfrm>
            <a:off x="8249717" y="1554480"/>
            <a:ext cx="339333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recv-3-badge"/>
          <p:cNvSpPr/>
          <p:nvPr/>
        </p:nvSpPr>
        <p:spPr>
          <a:xfrm>
            <a:off x="8524037" y="1828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recv-3-num"/>
          <p:cNvSpPr txBox="1"/>
          <p:nvPr/>
        </p:nvSpPr>
        <p:spPr>
          <a:xfrm>
            <a:off x="8524037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recv-3-head"/>
          <p:cNvSpPr txBox="1"/>
          <p:nvPr/>
        </p:nvSpPr>
        <p:spPr>
          <a:xfrm>
            <a:off x="8524037" y="237744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ダウンロード</a:t>
            </a:r>
            <a:endParaRPr lang="en-US" sz="1900" dirty="0"/>
          </a:p>
        </p:txBody>
      </p:sp>
      <p:sp>
        <p:nvSpPr>
          <p:cNvPr id="17" name="recv-3-desc"/>
          <p:cNvSpPr txBox="1"/>
          <p:nvPr/>
        </p:nvSpPr>
        <p:spPr>
          <a:xfrm>
            <a:off x="8524037" y="292608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ファイル一覧から「ダウンロード」を押す</a:t>
            </a:r>
            <a:endParaRPr lang="en-US" sz="1400" dirty="0"/>
          </a:p>
        </p:txBody>
      </p:sp>
      <p:sp>
        <p:nvSpPr>
          <p:cNvPr id="18" name="recv-note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取引先の登録は不要です。有効期限を過ぎるか回数の上限に達すると「E303: ダウンロードリンクが無効になっています」と表示され、使えなくなります。もう一度送るときは、新しく申請してください。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誤送信に気づいたら、すぐに連絡してください</a:t>
            </a:r>
            <a:endParaRPr lang="en-US" sz="3000" dirty="0"/>
          </a:p>
        </p:txBody>
      </p:sp>
      <p:sp>
        <p:nvSpPr>
          <p:cNvPr id="3" name="urgent-card"/>
          <p:cNvSpPr/>
          <p:nvPr/>
        </p:nvSpPr>
        <p:spPr>
          <a:xfrm>
            <a:off x="548640" y="1463040"/>
            <a:ext cx="4206240" cy="4206240"/>
          </a:xfrm>
          <a:prstGeom prst="roundRect">
            <a:avLst>
              <a:gd name="adj" fmla="val 3261"/>
            </a:avLst>
          </a:prstGeom>
          <a:solidFill>
            <a:schemeClr val="accent3"/>
          </a:solidFill>
          <a:ln/>
        </p:spPr>
      </p:sp>
      <p:sp>
        <p:nvSpPr>
          <p:cNvPr id="4" name="urgent-circle"/>
          <p:cNvSpPr/>
          <p:nvPr/>
        </p:nvSpPr>
        <p:spPr>
          <a:xfrm>
            <a:off x="914400" y="17830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urge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11680"/>
            <a:ext cx="457200" cy="457200"/>
          </a:xfrm>
          <a:prstGeom prst="rect">
            <a:avLst/>
          </a:prstGeom>
        </p:spPr>
      </p:pic>
      <p:sp>
        <p:nvSpPr>
          <p:cNvPr id="6" name="urgent-head"/>
          <p:cNvSpPr txBox="1"/>
          <p:nvPr/>
        </p:nvSpPr>
        <p:spPr>
          <a:xfrm>
            <a:off x="914400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リンクはその場で止められます</a:t>
            </a:r>
            <a:endParaRPr lang="en-US" sz="2200" dirty="0"/>
          </a:p>
        </p:txBody>
      </p:sp>
      <p:sp>
        <p:nvSpPr>
          <p:cNvPr id="7" name="urgent-desc"/>
          <p:cNvSpPr txBox="1"/>
          <p:nvPr/>
        </p:nvSpPr>
        <p:spPr>
          <a:xfrm>
            <a:off x="914400" y="39319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担当が PrimeDrive の申請フォルダを削除すると、リンクはすぐに使えなくなります。</a:t>
            </a:r>
            <a:endParaRPr lang="en-US" sz="1500" dirty="0"/>
          </a:p>
        </p:txBody>
      </p:sp>
      <p:sp>
        <p:nvSpPr>
          <p:cNvPr id="8" name="urgent-step-1-badge"/>
          <p:cNvSpPr/>
          <p:nvPr/>
        </p:nvSpPr>
        <p:spPr>
          <a:xfrm>
            <a:off x="5303520" y="1645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urgent-step-1-num"/>
          <p:cNvSpPr txBox="1"/>
          <p:nvPr/>
        </p:nvSpPr>
        <p:spPr>
          <a:xfrm>
            <a:off x="5303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urgent-step-1-text"/>
          <p:cNvSpPr txBox="1"/>
          <p:nvPr/>
        </p:nvSpPr>
        <p:spPr>
          <a:xfrm>
            <a:off x="5852160" y="1664208"/>
            <a:ext cx="5790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上長と情報システム担当に、申請 ID（例：20261027-101500-AB12）と誤った宛先を伝える</a:t>
            </a:r>
            <a:endParaRPr lang="en-US" sz="1500" dirty="0"/>
          </a:p>
        </p:txBody>
      </p:sp>
      <p:sp>
        <p:nvSpPr>
          <p:cNvPr id="11" name="urgent-step-2-badge"/>
          <p:cNvSpPr/>
          <p:nvPr/>
        </p:nvSpPr>
        <p:spPr>
          <a:xfrm>
            <a:off x="5303520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urgent-step-2-num"/>
          <p:cNvSpPr txBox="1"/>
          <p:nvPr/>
        </p:nvSpPr>
        <p:spPr>
          <a:xfrm>
            <a:off x="53035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urgent-step-2-text"/>
          <p:cNvSpPr txBox="1"/>
          <p:nvPr/>
        </p:nvSpPr>
        <p:spPr>
          <a:xfrm>
            <a:off x="5852160" y="2944368"/>
            <a:ext cx="5790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担当がリンクを無効にし、先方がダウンロード済みかを PrimeDrive の履歴で確認する</a:t>
            </a:r>
            <a:endParaRPr lang="en-US" sz="1500" dirty="0"/>
          </a:p>
        </p:txBody>
      </p:sp>
      <p:sp>
        <p:nvSpPr>
          <p:cNvPr id="14" name="urgent-step-3-badge"/>
          <p:cNvSpPr/>
          <p:nvPr/>
        </p:nvSpPr>
        <p:spPr>
          <a:xfrm>
            <a:off x="530352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urgent-step-3-num"/>
          <p:cNvSpPr txBox="1"/>
          <p:nvPr/>
        </p:nvSpPr>
        <p:spPr>
          <a:xfrm>
            <a:off x="530352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urgent-step-3-text"/>
          <p:cNvSpPr txBox="1"/>
          <p:nvPr/>
        </p:nvSpPr>
        <p:spPr>
          <a:xfrm>
            <a:off x="5852160" y="4224528"/>
            <a:ext cx="5790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誤った宛先へのお詫びと削除依頼は、上長の指示に従う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困ったときの対処</a:t>
            </a:r>
            <a:endParaRPr lang="en-US" sz="3000" dirty="0"/>
          </a:p>
        </p:txBody>
      </p:sp>
      <p:graphicFrame>
        <p:nvGraphicFramePr>
          <p:cNvPr id="13" name="faq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こんなとき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どうするか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「下書きを作成」ボタンが出ない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申請者本人のアカウントで開いているか、状態が「送付キー発行済み」かを確認。「最新の状態に更新」を押す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状態が「発行エラー」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エラーの内容を確認し、「送付キーの発行を再実行」を押す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「送付キー発行中」のまま進まない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60 分経つと自動で「発行エラー」になるので再実行する。急ぎは情報システム担当へ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「チケットが無効」「有効期限が切れました」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申請画面に戻り、「下書きを作成」からやり直す（リンクは 15 分・1 回限り）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下書きを消してしまった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情報システム担当へ。パスワードは消去済みのため、新しく申請し直す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宛先やファイルを変えたい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承認前なら「申請を取下げる」で取り下げ、申請し直す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取引先がない・ドメインが違う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マスタ管理担当に登録を依頼する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守ってほしいこと</a:t>
            </a:r>
            <a:endParaRPr lang="en-US" sz="3000" dirty="0"/>
          </a:p>
        </p:txBody>
      </p:sp>
      <p:pic>
        <p:nvPicPr>
          <p:cNvPr id="3" name="rule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47472" cy="347472"/>
          </a:xfrm>
          <a:prstGeom prst="rect">
            <a:avLst/>
          </a:prstGeom>
        </p:spPr>
      </p:pic>
      <p:sp>
        <p:nvSpPr>
          <p:cNvPr id="4" name="rule-1"/>
          <p:cNvSpPr txBox="1"/>
          <p:nvPr/>
        </p:nvSpPr>
        <p:spPr>
          <a:xfrm>
            <a:off x="1097280" y="1600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社外へのファイル送付は、この仕組み以外で行わない（メール添付・個人のクラウドは禁止）</a:t>
            </a:r>
            <a:endParaRPr lang="en-US" sz="1500" dirty="0"/>
          </a:p>
        </p:txBody>
      </p:sp>
      <p:pic>
        <p:nvPicPr>
          <p:cNvPr id="5" name="rule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347472" cy="347472"/>
          </a:xfrm>
          <a:prstGeom prst="rect">
            <a:avLst/>
          </a:prstGeom>
        </p:spPr>
      </p:pic>
      <p:sp>
        <p:nvSpPr>
          <p:cNvPr id="6" name="rule-2"/>
          <p:cNvSpPr txBox="1"/>
          <p:nvPr/>
        </p:nvSpPr>
        <p:spPr>
          <a:xfrm>
            <a:off x="1097280" y="24688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下書きの宛先を変えない。変えるときは申請し直す</a:t>
            </a:r>
            <a:endParaRPr lang="en-US" sz="1500" dirty="0"/>
          </a:p>
        </p:txBody>
      </p:sp>
      <p:pic>
        <p:nvPicPr>
          <p:cNvPr id="7" name="rule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37560"/>
            <a:ext cx="347472" cy="347472"/>
          </a:xfrm>
          <a:prstGeom prst="rect">
            <a:avLst/>
          </a:prstGeom>
        </p:spPr>
      </p:pic>
      <p:sp>
        <p:nvSpPr>
          <p:cNvPr id="8" name="rule-3"/>
          <p:cNvSpPr txBox="1"/>
          <p:nvPr/>
        </p:nvSpPr>
        <p:spPr>
          <a:xfrm>
            <a:off x="1097280" y="33375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本文とパスワードを同じメールに書かない</a:t>
            </a:r>
            <a:endParaRPr lang="en-US" sz="1500" dirty="0"/>
          </a:p>
        </p:txBody>
      </p:sp>
      <p:pic>
        <p:nvPicPr>
          <p:cNvPr id="9" name="rule-4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06240"/>
            <a:ext cx="347472" cy="347472"/>
          </a:xfrm>
          <a:prstGeom prst="rect">
            <a:avLst/>
          </a:prstGeom>
        </p:spPr>
      </p:pic>
      <p:sp>
        <p:nvSpPr>
          <p:cNvPr id="10" name="rule-4"/>
          <p:cNvSpPr txBox="1"/>
          <p:nvPr/>
        </p:nvSpPr>
        <p:spPr>
          <a:xfrm>
            <a:off x="1097280" y="42062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申請画面や下書き作成画面の URL を他の人に渡さない</a:t>
            </a:r>
            <a:endParaRPr lang="en-US" sz="1500" dirty="0"/>
          </a:p>
        </p:txBody>
      </p:sp>
      <p:pic>
        <p:nvPicPr>
          <p:cNvPr id="11" name="rule-5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74920"/>
            <a:ext cx="347472" cy="347472"/>
          </a:xfrm>
          <a:prstGeom prst="rect">
            <a:avLst/>
          </a:prstGeom>
        </p:spPr>
      </p:pic>
      <p:sp>
        <p:nvSpPr>
          <p:cNvPr id="12" name="rule-5"/>
          <p:cNvSpPr txBox="1"/>
          <p:nvPr/>
        </p:nvSpPr>
        <p:spPr>
          <a:xfrm>
            <a:off x="1097280" y="50749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承認者は、ファイルを開かずに承認しない</a:t>
            </a:r>
            <a:endParaRPr lang="en-US" sz="1500" dirty="0"/>
          </a:p>
        </p:txBody>
      </p:sp>
      <p:sp>
        <p:nvSpPr>
          <p:cNvPr id="13" name="contact-card"/>
          <p:cNvSpPr/>
          <p:nvPr/>
        </p:nvSpPr>
        <p:spPr>
          <a:xfrm>
            <a:off x="8138160" y="1508760"/>
            <a:ext cx="3504895" cy="4206240"/>
          </a:xfrm>
          <a:prstGeom prst="roundRect">
            <a:avLst>
              <a:gd name="adj" fmla="val 313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contact-head"/>
          <p:cNvSpPr txBox="1"/>
          <p:nvPr/>
        </p:nvSpPr>
        <p:spPr>
          <a:xfrm>
            <a:off x="8412480" y="1737360"/>
            <a:ext cx="2956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問い合わせ先</a:t>
            </a:r>
            <a:endParaRPr lang="en-US" sz="1800" dirty="0"/>
          </a:p>
        </p:txBody>
      </p:sp>
      <p:sp>
        <p:nvSpPr>
          <p:cNvPr id="15" name="contact-list"/>
          <p:cNvSpPr txBox="1"/>
          <p:nvPr/>
        </p:nvSpPr>
        <p:spPr>
          <a:xfrm>
            <a:off x="8412480" y="2331720"/>
            <a:ext cx="29562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誤送信・リンクの無効化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上長、情報システム担当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取引先・承認者の登録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マスタ管理担当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画面の不具合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情報システム担当</a:t>
            </a:r>
            <a:endParaRPr lang="en-US" sz="1400" dirty="0"/>
          </a:p>
        </p:txBody>
      </p:sp>
      <p:sp>
        <p:nvSpPr>
          <p:cNvPr id="16" name="contact-tbd"/>
          <p:cNvSpPr txBox="1"/>
          <p:nvPr/>
        </p:nvSpPr>
        <p:spPr>
          <a:xfrm>
            <a:off x="8412480" y="5166360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連絡先（内線・メール）：未定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外部ファイル送付">
  <a:themeElements>
    <a:clrScheme name="外部ファイル送付">
      <a:dk1>
        <a:srgbClr val="1F2A30"/>
      </a:dk1>
      <a:lt1>
        <a:srgbClr val="FFFFFF"/>
      </a:lt1>
      <a:dk2>
        <a:srgbClr val="0F3B4C"/>
      </a:dk2>
      <a:lt2>
        <a:srgbClr val="EAF4F4"/>
      </a:lt2>
      <a:accent1>
        <a:srgbClr val="0E8C8C"/>
      </a:accent1>
      <a:accent2>
        <a:srgbClr val="E39B2D"/>
      </a:accent2>
      <a:accent3>
        <a:srgbClr val="C9473F"/>
      </a:accent3>
      <a:accent4>
        <a:srgbClr val="5B7F95"/>
      </a:accent4>
      <a:accent5>
        <a:srgbClr val="9CC9C6"/>
      </a:accent5>
      <a:accent6>
        <a:srgbClr val="3A5A40"/>
      </a:accent6>
      <a:hlink>
        <a:srgbClr val="0E8C8C"/>
      </a:hlink>
      <a:folHlink>
        <a:srgbClr val="5B7F95"/>
      </a:folHlink>
    </a:clrScheme>
    <a:fontScheme name="外部ファイル送付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外部ファイル送付 社員向けマニュアル</dc:title>
  <dc:subject>PptxGenJS Presentation</dc:subject>
  <dc:creator>情報システム</dc:creator>
  <cp:lastModifiedBy>情報システム</cp:lastModifiedBy>
  <cp:revision>1</cp:revision>
  <dcterms:created xsi:type="dcterms:W3CDTF">2026-10-27T02:20:59Z</dcterms:created>
  <dcterms:modified xsi:type="dcterms:W3CDTF">2026-10-27T02:20:59Z</dcterms:modified>
</cp:coreProperties>
</file>